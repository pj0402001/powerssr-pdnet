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32E52"/>
                </a:solidFill>
              </a:defRPr>
            </a:pPr>
            <a:r>
              <a:t>基于物理闭合约束的电力系统安全域与全状态代理模型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364B60"/>
                </a:solidFill>
              </a:defRPr>
            </a:pPr>
            <a:r>
              <a:t>作者：Peng Jiao  |  目标：从“仅判别可行性”升级为“可行性+OPF状态联合替代”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1. 研究问题与痛点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传统 IPOPT 扫描准确但慢：每个点都要解非线性方程，在线应用成本高。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仅做安全域分类不足以支撑调度：还需要 Q、V、角度等内部状态。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投稿中刊需要“方法创新 + 物理解释 + 可复现实证”的完整闭环。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本工作核心：让模型既学边界拓扑，也学边界背后的物理状态。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2. 方法故事（创新主线）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提出 Energy-Closure PDNet（EC-PDNet）：把有功平衡闭合作为网络结构先验。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创新A：不直接回归 P_G1，而是预测损耗 P_loss，再由闭合方程恢复 P_G1。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创新B：状态分组头（Q/V/theta）+ 物理区间映射（V∈[0.9,1.1], Q有界）。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创新C：联合目标（分类+状态）并引入单调先验（dP1/dP2, dP1/dP3 为负）。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创新D：新增能量一致性指标，量化模型物理一致性。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3. 数学构想与关键公式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577840" cy="5394960"/>
          </a:xfrm>
          <a:prstGeom prst="rect">
            <a:avLst/>
          </a:prstGeom>
          <a:solidFill>
            <a:srgbClr val="EEF5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7880" y="1188720"/>
            <a:ext cx="5577840" cy="5394960"/>
          </a:xfrm>
          <a:prstGeom prst="rect">
            <a:avLst/>
          </a:prstGeom>
          <a:solidFill>
            <a:srgbClr val="EFFAF3"/>
          </a:solidFill>
          <a:ln>
            <a:solidFill>
              <a:srgbClr val="B4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4278"/>
                </a:solidFill>
              </a:defRPr>
            </a:pPr>
            <a:r>
              <a:t>结构化状态恢复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C50"/>
                </a:solidFill>
              </a:defRPr>
            </a:pPr>
            <a:r>
              <a:t>输入: x = [P_G2, P_G3]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预测: P_loss = softplus(h_loss(z)) + c, c&gt;0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恢复: P_G1 = P_load + P_loss - P_G2 - P_G3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Q/V/theta 由分组头输出并映射到物理可行区间。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22A"/>
                </a:solidFill>
              </a:defRPr>
            </a:pPr>
            <a:r>
              <a:t>训练目标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4634"/>
                </a:solidFill>
              </a:defRPr>
            </a:pPr>
            <a:r>
              <a:t>L = L_cls + λ_state·L_state + λ_V·L_voltage + λ_mono·L_mono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L_state: 仅在可行点监督（mask机制）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L_mono: 约束 dP1/dP2, dP1/dP3 &lt;= 0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新增评估: E_close = |P1+P2+P3-P_load-P_loss_true|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把“可解释物理规律”嵌入网络结构与损失函数，避免纯黑盒拟合。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4. 实验设置（case9mod）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577840" cy="5394960"/>
          </a:xfrm>
          <a:prstGeom prst="rect">
            <a:avLst/>
          </a:prstGeom>
          <a:solidFill>
            <a:srgbClr val="EEF5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7880" y="1188720"/>
            <a:ext cx="5577840" cy="5394960"/>
          </a:xfrm>
          <a:prstGeom prst="rect">
            <a:avLst/>
          </a:prstGeom>
          <a:solidFill>
            <a:srgbClr val="EFFAF3"/>
          </a:solidFill>
          <a:ln>
            <a:solidFill>
              <a:srgbClr val="B4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4278"/>
                </a:solidFill>
              </a:defRPr>
            </a:pPr>
            <a:r>
              <a:t>数据与任务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C50"/>
                </a:solidFill>
              </a:defRPr>
            </a:pPr>
            <a:r>
              <a:t>样本总数: 10940（可行 2735 / 不可行 8205）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输入: (P_G2, P_G3)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输出: 可行性 + 22维状态(P1,Q1~Q3,V1~V9,theta1~theta9)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划分: 70/15/15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22A"/>
                </a:solidFill>
              </a:defRPr>
            </a:pPr>
            <a:r>
              <a:t>对比模型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4634"/>
                </a:solidFill>
              </a:defRPr>
            </a:pPr>
            <a:r>
              <a:t>Baseline FullState-PDNet（直接状态回归）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EC-PDNet（能量闭合结构化输出）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指标: 分类Acc/F1 + 分组MAE + 能量一致性误差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5. 结果对比（测试集）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577840" cy="5394960"/>
          </a:xfrm>
          <a:prstGeom prst="rect">
            <a:avLst/>
          </a:prstGeom>
          <a:solidFill>
            <a:srgbClr val="EEF5FF"/>
          </a:solidFill>
          <a:ln>
            <a:solidFill>
              <a:srgbClr val="B4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97880" y="1188720"/>
            <a:ext cx="5577840" cy="5394960"/>
          </a:xfrm>
          <a:prstGeom prst="rect">
            <a:avLst/>
          </a:prstGeom>
          <a:solidFill>
            <a:srgbClr val="EFFAF3"/>
          </a:solidFill>
          <a:ln>
            <a:solidFill>
              <a:srgbClr val="B4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84278"/>
                </a:solidFill>
              </a:defRPr>
            </a:pPr>
            <a:r>
              <a:t>Baseline FullState-PDNet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3C50"/>
                </a:solidFill>
              </a:defRPr>
            </a:pPr>
            <a:r>
              <a:t>F1 = 0.9841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P1 MAE = 0.8595 MW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Overall MAE = 0.0994</a:t>
            </a:r>
          </a:p>
          <a:p>
            <a:pPr>
              <a:defRPr sz="1700">
                <a:solidFill>
                  <a:srgbClr val="2D3C50"/>
                </a:solidFill>
              </a:defRPr>
            </a:pPr>
            <a:r>
              <a:t>Closure mean = 0.8595 MW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4173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6622A"/>
                </a:solidFill>
              </a:defRPr>
            </a:pPr>
            <a:r>
              <a:t>EC-PDNet（本次改进）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74519"/>
            <a:ext cx="51206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D4634"/>
                </a:solidFill>
              </a:defRPr>
            </a:pPr>
            <a:r>
              <a:t>F1 = 0.9817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P1 MAE = 0.1304 MW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Overall MAE = 0.0825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Closure mean = 0.1304 MW</a:t>
            </a:r>
          </a:p>
          <a:p>
            <a:pPr>
              <a:defRPr sz="1700">
                <a:solidFill>
                  <a:srgbClr val="2D4634"/>
                </a:solidFill>
              </a:defRPr>
            </a:pPr>
            <a:r>
              <a:t>结论: P1误差和闭合误差显著下降，整体状态精度提升。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6. 关键结论（可写进摘要/结论）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EC-PDNet 将有功平衡内生化进网络，显著改善最难回归的 slack 有功 P_G1。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P1 MAE 从约 0.86 MW 降到约 0.13 MW，能量闭合误差同步降低。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分类性能保持高水平（F1仍约0.98），说明改进主要提升状态可信度。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模型从“边界判别器”升级为“可替代传统点求解的全输出代理”。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7. 安全域拓扑复现（case9mod）</a:t>
            </a:r>
          </a:p>
        </p:txBody>
      </p:sp>
      <p:pic>
        <p:nvPicPr>
          <p:cNvPr id="3" name="Picture 2" descr="case9mod_securit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789920" cy="367465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" y="626364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模型保持对三连通安全域拓扑的重构能力（传统法与学习法边界一致性高）。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8. 工程落地流程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离线：传统法生成高质量样本，训练 EC-PDNet。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在线：输入(P_G2,P_G3)直接输出可行概率与全状态变量。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边界附近触发传统法复核（少量点），形成高效双轨推理。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收益：绝大多数点无需迭代求解，显著加速在线评估。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056"/>
                </a:solidFill>
              </a:defRPr>
            </a:pPr>
            <a:r>
              <a:t>9. 下一步工作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2A3848"/>
                </a:solidFill>
              </a:defRPr>
            </a:pPr>
            <a:r>
              <a:t>扩展 WB5/LMBM3 的全状态导出，形成跨系统统一证据。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引入图结构编码（GNN）增强跨网络泛化。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增加不确定性估计，构建可信度驱动的在线切换机制。</a:t>
            </a:r>
          </a:p>
          <a:p>
            <a:pPr>
              <a:defRPr sz="2100">
                <a:solidFill>
                  <a:srgbClr val="2A3848"/>
                </a:solidFill>
              </a:defRPr>
            </a:pPr>
            <a:r>
              <a:t>补充复杂度分析：推理时延 vs 传统法时延。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8076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87878"/>
                </a:solidFill>
              </a:defRPr>
            </a:pPr>
            <a:r>
              <a:t>建议将“结构化物理先验 + 可解释指标 + 开源复现”作为中刊创新主轴。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