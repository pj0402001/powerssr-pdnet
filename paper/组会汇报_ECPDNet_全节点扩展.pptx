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22B4E"/>
                </a:solidFill>
              </a:defRPr>
            </a:pPr>
            <a:r>
              <a:t>组会汇报：EC-PDNet全节点系统扩展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A4A5F"/>
                </a:solidFill>
              </a:defRPr>
            </a:pPr>
            <a:r>
              <a:t>Peng Jiao | 目标：从安全域判别升级为物理一致的全状态代理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56"/>
                </a:solidFill>
              </a:defRPr>
            </a:pPr>
            <a:r>
              <a:t>1. 问题与目标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2A3848"/>
                </a:solidFill>
              </a:defRPr>
            </a:pPr>
            <a:r>
              <a:t>传统OPF/可行性扫描计算成本高，难以满足在线大规模点评估。</a:t>
            </a:r>
          </a:p>
          <a:p>
            <a:pPr>
              <a:defRPr sz="2100">
                <a:solidFill>
                  <a:srgbClr val="2A3848"/>
                </a:solidFill>
              </a:defRPr>
            </a:pPr>
            <a:r>
              <a:t>仅输出可行/不可行不足以支撑调度决策，还需内部状态（P/Q/V/角度）。</a:t>
            </a:r>
          </a:p>
          <a:p>
            <a:pPr>
              <a:defRPr sz="2100">
                <a:solidFill>
                  <a:srgbClr val="2A3848"/>
                </a:solidFill>
              </a:defRPr>
            </a:pPr>
            <a:r>
              <a:t>本阶段目标：构建并验证可迁移的EC-PDNet，覆盖WB2/WB5/case9/LMBM3。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56"/>
                </a:solidFill>
              </a:defRPr>
            </a:pPr>
            <a:r>
              <a:t>2. 方法亮点（中刊叙事）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2A3848"/>
                </a:solidFill>
              </a:defRPr>
            </a:pPr>
            <a:r>
              <a:t>坐标正确性：始终在发电机功率空间学习SSR，保持拓扑含义不变。</a:t>
            </a:r>
          </a:p>
          <a:p>
            <a:pPr>
              <a:defRPr sz="2100">
                <a:solidFill>
                  <a:srgbClr val="2A3848"/>
                </a:solidFill>
              </a:defRPr>
            </a:pPr>
            <a:r>
              <a:t>能量闭合结构：由损耗头+闭合方程恢复关键状态，增强物理一致性。</a:t>
            </a:r>
          </a:p>
          <a:p>
            <a:pPr>
              <a:defRPr sz="2100">
                <a:solidFill>
                  <a:srgbClr val="2A3848"/>
                </a:solidFill>
              </a:defRPr>
            </a:pPr>
            <a:r>
              <a:t>联合学习：分类头+状态头，兼顾边界判别与状态回归。</a:t>
            </a:r>
          </a:p>
          <a:p>
            <a:pPr>
              <a:defRPr sz="2100">
                <a:solidFill>
                  <a:srgbClr val="2A3848"/>
                </a:solidFill>
              </a:defRPr>
            </a:pPr>
            <a:r>
              <a:t>可解释评估：分类指标 + 状态误差 + 闭合误差三维评价。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807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7878"/>
                </a:solidFill>
              </a:defRPr>
            </a:pPr>
            <a:r>
              <a:t>核心卖点：不是黑盒拟合，而是“结构化物理先验 + 数据驱动”的混合范式。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56"/>
                </a:solidFill>
              </a:defRPr>
            </a:pPr>
            <a:r>
              <a:t>3. 全系统扩展结果（EC-PDNet）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280160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74676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28323C"/>
                          </a:solidFill>
                        </a:defRPr>
                      </a:pPr>
                      <a:r>
                        <a:t>Case</a:t>
                      </a:r>
                    </a:p>
                  </a:txBody>
                  <a:tcPr>
                    <a:solidFill>
                      <a:srgbClr val="E3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28323C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E3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28323C"/>
                          </a:solidFill>
                        </a:defRPr>
                      </a:pPr>
                      <a:r>
                        <a:t>Acc</a:t>
                      </a:r>
                    </a:p>
                  </a:txBody>
                  <a:tcPr>
                    <a:solidFill>
                      <a:srgbClr val="E3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28323C"/>
                          </a:solidFill>
                        </a:defRPr>
                      </a:pPr>
                      <a:r>
                        <a:t>State MAE</a:t>
                      </a:r>
                    </a:p>
                  </a:txBody>
                  <a:tcPr>
                    <a:solidFill>
                      <a:srgbClr val="E3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28323C"/>
                          </a:solidFill>
                        </a:defRPr>
                      </a:pPr>
                      <a:r>
                        <a:t>Closure Abs Mean</a:t>
                      </a:r>
                    </a:p>
                  </a:txBody>
                  <a:tcPr>
                    <a:solidFill>
                      <a:srgbClr val="E3EEF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323C"/>
                          </a:solidFill>
                        </a:defRPr>
                      </a:pPr>
                      <a:r>
                        <a:t>WB2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323C"/>
                          </a:solidFill>
                        </a:defRPr>
                      </a:pPr>
                      <a:r>
                        <a:t>0.9639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323C"/>
                          </a:solidFill>
                        </a:defRPr>
                      </a:pPr>
                      <a:r>
                        <a:t>0.9975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323C"/>
                          </a:solidFill>
                        </a:defRPr>
                      </a:pPr>
                      <a:r>
                        <a:t>2.5123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323C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323C"/>
                          </a:solidFill>
                        </a:defRPr>
                      </a:pPr>
                      <a:r>
                        <a:t>WB5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323C"/>
                          </a:solidFill>
                        </a:defRPr>
                      </a:pPr>
                      <a:r>
                        <a:t>0.9326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323C"/>
                          </a:solidFill>
                        </a:defRPr>
                      </a:pPr>
                      <a:r>
                        <a:t>0.9526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323C"/>
                          </a:solidFill>
                        </a:defRPr>
                      </a:pPr>
                      <a:r>
                        <a:t>0.0001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323C"/>
                          </a:solidFill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323C"/>
                          </a:solidFill>
                        </a:defRPr>
                      </a:pPr>
                      <a:r>
                        <a:t>case9mod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323C"/>
                          </a:solidFill>
                        </a:defRPr>
                      </a:pPr>
                      <a:r>
                        <a:t>0.7928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323C"/>
                          </a:solidFill>
                        </a:defRPr>
                      </a:pPr>
                      <a:r>
                        <a:t>0.8946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323C"/>
                          </a:solidFill>
                        </a:defRPr>
                      </a:pPr>
                      <a:r>
                        <a:t>0.5302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323C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323C"/>
                          </a:solidFill>
                        </a:defRPr>
                      </a:pPr>
                      <a:r>
                        <a:t>LMBM3_lf1p490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323C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323C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323C"/>
                          </a:solidFill>
                        </a:defRPr>
                      </a:pPr>
                      <a:r>
                        <a:t>4.7509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323C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323C"/>
                          </a:solidFill>
                        </a:defRPr>
                      </a:pPr>
                      <a:r>
                        <a:t>LMBM3_lf1p500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323C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323C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323C"/>
                          </a:solidFill>
                        </a:defRPr>
                      </a:pPr>
                      <a:r>
                        <a:t>3.7155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323C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60350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7878"/>
                </a:solidFill>
              </a:defRPr>
            </a:pPr>
            <a:r>
              <a:t>说明：WB5目前传统CSV仅含(PG1,PG5,loss)，状态指标维度与case9/LMBM3不完全一致。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56"/>
                </a:solidFill>
              </a:defRPr>
            </a:pPr>
            <a:r>
              <a:t>4. case9mod（全状态）重点结果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2A3848"/>
                </a:solidFill>
              </a:defRPr>
            </a:pPr>
            <a:r>
              <a:t>分类：F1=0.7928, Acc=0.8946</a:t>
            </a:r>
          </a:p>
          <a:p>
            <a:pPr>
              <a:defRPr sz="2100">
                <a:solidFill>
                  <a:srgbClr val="2A3848"/>
                </a:solidFill>
              </a:defRPr>
            </a:pPr>
            <a:r>
              <a:t>状态：overall MAE=0.5302</a:t>
            </a:r>
          </a:p>
          <a:p>
            <a:pPr>
              <a:defRPr sz="2100">
                <a:solidFill>
                  <a:srgbClr val="2A3848"/>
                </a:solidFill>
              </a:defRPr>
            </a:pPr>
            <a:r>
              <a:t>分组：P=0.0749, Q=0.3025, V=0.0026, theta=1.2349</a:t>
            </a:r>
          </a:p>
          <a:p>
            <a:pPr>
              <a:defRPr sz="2100">
                <a:solidFill>
                  <a:srgbClr val="2A3848"/>
                </a:solidFill>
              </a:defRPr>
            </a:pPr>
            <a:r>
              <a:t>闭合误差：mean=0.0000, p95=0.0000</a:t>
            </a:r>
          </a:p>
          <a:p>
            <a:pPr>
              <a:defRPr sz="2100">
                <a:solidFill>
                  <a:srgbClr val="2A3848"/>
                </a:solidFill>
              </a:defRPr>
            </a:pPr>
            <a:r>
              <a:t>结论：结构化闭合约束显著提升物理一致性。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56"/>
                </a:solidFill>
              </a:defRPr>
            </a:pPr>
            <a:r>
              <a:t>5. 安全域拓扑复现示例（case9mod）</a:t>
            </a:r>
          </a:p>
        </p:txBody>
      </p:sp>
      <p:pic>
        <p:nvPicPr>
          <p:cNvPr id="3" name="Picture 2" descr="case9mod_security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10789920" cy="36746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在发电机功率空间下，模型保持对多连通安全域结构的复现能力。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56"/>
                </a:solidFill>
              </a:defRPr>
            </a:pPr>
            <a:r>
              <a:t>6. 论文改动与投稿策略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2A3848"/>
                </a:solidFill>
              </a:defRPr>
            </a:pPr>
            <a:r>
              <a:t>摘要改为单段，突出“坐标正确性+结构化闭合+全状态替代”主线。</a:t>
            </a:r>
          </a:p>
          <a:p>
            <a:pPr>
              <a:defRPr sz="2100">
                <a:solidFill>
                  <a:srgbClr val="2A3848"/>
                </a:solidFill>
              </a:defRPr>
            </a:pPr>
            <a:r>
              <a:t>贡献压缩为3条：框架、方法创新、全基准验证与开源复现。</a:t>
            </a:r>
          </a:p>
          <a:p>
            <a:pPr>
              <a:defRPr sz="2100">
                <a:solidFill>
                  <a:srgbClr val="2A3848"/>
                </a:solidFill>
              </a:defRPr>
            </a:pPr>
            <a:r>
              <a:t>实验部分新增EC-PDNet与多系统扩展结果，并给出CSV点对点对比文件。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56"/>
                </a:solidFill>
              </a:defRPr>
            </a:pPr>
            <a:r>
              <a:t>7. 下一步计划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2A3848"/>
                </a:solidFill>
              </a:defRPr>
            </a:pPr>
            <a:r>
              <a:t>补齐WB5传统状态导出（Q/V/theta），完善‘全状态’证据链。</a:t>
            </a:r>
          </a:p>
          <a:p>
            <a:pPr>
              <a:defRPr sz="2100">
                <a:solidFill>
                  <a:srgbClr val="2A3848"/>
                </a:solidFill>
              </a:defRPr>
            </a:pPr>
            <a:r>
              <a:t>优化case9多系统统一训练策略，提升F1与状态精度平衡。</a:t>
            </a:r>
          </a:p>
          <a:p>
            <a:pPr>
              <a:defRPr sz="2100">
                <a:solidFill>
                  <a:srgbClr val="2A3848"/>
                </a:solidFill>
              </a:defRPr>
            </a:pPr>
            <a:r>
              <a:t>增加推理时延对比（传统法 vs EC-PDNet）形成工程落地亮点。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